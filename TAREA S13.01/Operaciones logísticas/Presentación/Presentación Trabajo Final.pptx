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70" r:id="rId4"/>
    <p:sldId id="260" r:id="rId5"/>
    <p:sldId id="264" r:id="rId6"/>
    <p:sldId id="263" r:id="rId7"/>
    <p:sldId id="262" r:id="rId8"/>
    <p:sldId id="261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53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F32506-F93E-6A07-81C4-B6ECC12E1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140" y="37015"/>
            <a:ext cx="12266140" cy="659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77393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rendimiento operativo de una empresa de transporte y logística durante el periodo 2022–2024 para identificar oportunidades de mejora mediante Business Intelligence.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66928" y="3566160"/>
            <a:ext cx="502920" cy="0"/>
          </a:xfrm>
          <a:prstGeom prst="line">
            <a:avLst/>
          </a:prstGeom>
          <a:noFill/>
          <a:ln w="25400">
            <a:solidFill>
              <a:srgbClr val="3E6A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temporal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39" y="4395714"/>
            <a:ext cx="273825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</a:t>
            </a:r>
            <a:r>
              <a:rPr lang="en-US" sz="11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principales indicadores </a:t>
            </a:r>
            <a:r>
              <a:rPr lang="en-US" sz="11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ts val="1500"/>
              </a:lnSpc>
              <a:buNone/>
            </a:pPr>
            <a:endParaRPr lang="en-US" sz="11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Costes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Retrazos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Flota</a:t>
            </a: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i="1" dirty="0"/>
          </a:p>
        </p:txBody>
      </p:sp>
      <p:sp>
        <p:nvSpPr>
          <p:cNvPr id="11" name="Text 9"/>
          <p:cNvSpPr/>
          <p:nvPr/>
        </p:nvSpPr>
        <p:spPr>
          <a:xfrm>
            <a:off x="342900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447288" y="3566160"/>
            <a:ext cx="502920" cy="0"/>
          </a:xfrm>
          <a:prstGeom prst="line">
            <a:avLst/>
          </a:prstGeom>
          <a:noFill/>
          <a:ln w="25400">
            <a:solidFill>
              <a:srgbClr val="3E6A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rendimiento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4395714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1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factores que más influyen en el rendimiento </a:t>
            </a:r>
            <a:r>
              <a:rPr lang="en-US" sz="11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500"/>
              </a:lnSpc>
              <a:buNone/>
            </a:pPr>
            <a:endParaRPr lang="en-US" sz="11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–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</a:t>
            </a: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i="1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327648" y="3566160"/>
            <a:ext cx="502920" cy="0"/>
          </a:xfrm>
          <a:prstGeom prst="line">
            <a:avLst/>
          </a:prstGeom>
          <a:noFill/>
          <a:ln w="25400">
            <a:solidFill>
              <a:srgbClr val="3E6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37923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dashboard ejecutivo en Power BI.</a:t>
            </a:r>
          </a:p>
          <a:p>
            <a:pPr marL="0" indent="0">
              <a:lnSpc>
                <a:spcPts val="1500"/>
              </a:lnSpc>
              <a:buNone/>
            </a:pPr>
            <a:endParaRPr lang="en-US" sz="11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9" name="Text 17"/>
          <p:cNvSpPr/>
          <p:nvPr/>
        </p:nvSpPr>
        <p:spPr>
          <a:xfrm>
            <a:off x="918972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9208008" y="3566160"/>
            <a:ext cx="502920" cy="0"/>
          </a:xfrm>
          <a:prstGeom prst="line">
            <a:avLst/>
          </a:prstGeom>
          <a:noFill/>
          <a:ln w="25400">
            <a:solidFill>
              <a:srgbClr val="3E6A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mejora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4469854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estrategias de mejora basadas en los resultados </a:t>
            </a:r>
            <a:r>
              <a:rPr lang="en-US" sz="115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obtenidos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500"/>
              </a:lnSpc>
              <a:buNone/>
            </a:pPr>
            <a:endParaRPr lang="en-US" sz="11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r>
              <a:rPr lang="en-US" sz="115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0B5CACD-3DE3-58A5-3F2B-417681AF4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1326291"/>
            <a:ext cx="11679280" cy="5222581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95C5B7D1-5E29-21BD-9E05-5F3FC773494F}"/>
              </a:ext>
            </a:extLst>
          </p:cNvPr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866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DASHBOARDS · EXECUTIVE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Executive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232904" cy="4230355"/>
          </a:xfrm>
          <a:prstGeom prst="rect">
            <a:avLst/>
          </a:prstGeom>
          <a:solidFill>
            <a:srgbClr val="FFFFFF"/>
          </a:solidFill>
          <a:ln w="19050">
            <a:solidFill>
              <a:srgbClr val="F3F5F9"/>
            </a:solidFill>
            <a:prstDash val="solid"/>
          </a:ln>
          <a:effectLst>
            <a:outerShdw blurRad="127000" dist="38100" dir="5400000" algn="bl" rotWithShape="0">
              <a:srgbClr val="8A93A3">
                <a:alpha val="35000"/>
              </a:srgbClr>
            </a:outerShdw>
          </a:effectLst>
        </p:spPr>
      </p:sp>
      <p:pic>
        <p:nvPicPr>
          <p:cNvPr id="5" name="Image 0" descr="/home/claude/extracted/dash_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178040" cy="4597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01000" y="1600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5048" y="1545336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Operativa</a:t>
            </a: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Ratio de 0,40 refleja un buen control de los costes operativos respecto a los ingresos.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01000" y="256674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85048" y="2429502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ingresos</a:t>
            </a: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lidera la facturación, concentrando una parte significativa de los ingresos de la empresa.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348386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85048" y="3470190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Logística</a:t>
            </a:r>
            <a:endParaRPr lang="es-E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de los retrasos pone de manifiesto oportunidades para mejorar la puntualidad y la eficiencia operativa.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01000" y="5980670"/>
            <a:ext cx="3611880" cy="785890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60276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83880" y="630021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0"/>
              </a:lnSpc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presenta una base sólida de ingresos y un adecuado control de costes (ratio 0,40), aunque existen oportunidades para mejorar el </a:t>
            </a:r>
            <a:r>
              <a:rPr lang="es-E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crecimiento.</a:t>
            </a:r>
            <a:r>
              <a:rPr lang="es-ES" sz="1050" dirty="0" err="1"/>
              <a:t>y</a:t>
            </a:r>
            <a:r>
              <a:rPr lang="es-ES" sz="1050" dirty="0"/>
              <a:t> la eficiencia de las entregas.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DASHBOARDS · DRIVERS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Drivers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232904" cy="4078590"/>
          </a:xfrm>
          <a:prstGeom prst="rect">
            <a:avLst/>
          </a:prstGeom>
          <a:solidFill>
            <a:srgbClr val="FFFFFF"/>
          </a:solidFill>
          <a:ln w="19050">
            <a:solidFill>
              <a:srgbClr val="F3F5F9"/>
            </a:solidFill>
            <a:prstDash val="solid"/>
          </a:ln>
          <a:effectLst>
            <a:outerShdw blurRad="127000" dist="38100" dir="5400000" algn="bl" rotWithShape="0">
              <a:srgbClr val="8A93A3">
                <a:alpha val="35000"/>
              </a:srgbClr>
            </a:outerShdw>
          </a:effectLst>
        </p:spPr>
      </p:sp>
      <p:pic>
        <p:nvPicPr>
          <p:cNvPr id="5" name="Image 0" descr="/home/claude/extracted/dash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178040" cy="4416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01000" y="1600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5048" y="1652430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e incidentes</a:t>
            </a: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conductores con entre 11 y 20 años de experiencia presentan las tasas de incidentes más elevadas, mientras que el grupo con menos de 5 años registra el valor más bajo.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01000" y="27726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772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85048" y="2816688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de incidentes</a:t>
            </a: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grupo con ≤ 5 años de experiencia, el 57,69 % de los incidentes registrados son atribuibles al conductor, el porcentaje más alto entre todos los grupos.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387105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386281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85048" y="3882088"/>
            <a:ext cx="3227832" cy="1173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ralentí</a:t>
            </a: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81,45 % de los conductores se clasifica en la categoría "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(≤ 7,15 h), con un tiempo medio de ralentí de 7,01 horas, lo que evidencia oportunidades para optimizar los tiempos improductivos.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01000" y="5782962"/>
            <a:ext cx="3611880" cy="983598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587110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83880" y="6136362"/>
            <a:ext cx="3246120" cy="602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250"/>
              </a:lnSpc>
            </a:pP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por sí sola no explica el rendimiento de los conductores. El análisis evidencia la necesidad de combinar indicadores de seguridad, responsabilidad e inactividad para identificar oportunidades de mejora.</a:t>
            </a: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DASHBOARDS · FLEET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Fleet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232904" cy="411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3F5F9"/>
            </a:solidFill>
            <a:prstDash val="solid"/>
          </a:ln>
          <a:effectLst>
            <a:outerShdw blurRad="127000" dist="38100" dir="5400000" algn="bl" rotWithShape="0">
              <a:srgbClr val="8A93A3">
                <a:alpha val="35000"/>
              </a:srgbClr>
            </a:outerShdw>
          </a:effectLst>
        </p:spPr>
      </p:sp>
      <p:pic>
        <p:nvPicPr>
          <p:cNvPr id="5" name="Image 0" descr="/home/claude/extracted/dash_fl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178040" cy="4673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01000" y="1600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5048" y="1660668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presenta una utilización media del 83 %, mientras que los vehículos con mejor rendimiento superan el 87 %, evidenciando margen para optimizar el uso de los recursos.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01000" y="284683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84683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85048" y="2879830"/>
            <a:ext cx="3227832" cy="111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de Mantenimiento</a:t>
            </a: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reparaciones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concentran los mayores costes de mantenimiento, mientras que la descomposición de costes permite identificar los fabricantes y vehículos con mayor impacto económico.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4217045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421704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85048" y="4174698"/>
            <a:ext cx="3227832" cy="111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las ubicaciones de mantenimiento identifica instalaciones con un buen equilibrio entre volumen de intervenciones y tiempo de inactividad, así como otras con oportunidades de mejora.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01000" y="5741773"/>
            <a:ext cx="3611880" cy="1024787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588758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83880" y="6070460"/>
            <a:ext cx="3246120" cy="668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250"/>
              </a:lnSpc>
            </a:pP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facilita identificar oportunidades para optimizar la utilización de la flota, controlar los costes de mantenimiento y priorizar actuaciones sobre los activos con mayor impacto operativo.</a:t>
            </a: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DASHBOARDS ·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Logistics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232904" cy="4188113"/>
          </a:xfrm>
          <a:prstGeom prst="rect">
            <a:avLst/>
          </a:prstGeom>
          <a:solidFill>
            <a:srgbClr val="FFFFFF"/>
          </a:solidFill>
          <a:ln w="19050">
            <a:solidFill>
              <a:srgbClr val="F3F5F9"/>
            </a:solidFill>
            <a:prstDash val="solid"/>
          </a:ln>
          <a:effectLst>
            <a:outerShdw blurRad="127000" dist="38100" dir="5400000" algn="bl" rotWithShape="0">
              <a:srgbClr val="8A93A3">
                <a:alpha val="35000"/>
              </a:srgbClr>
            </a:outerShdw>
          </a:effectLst>
        </p:spPr>
      </p:sp>
      <p:pic>
        <p:nvPicPr>
          <p:cNvPr id="5" name="Image 0" descr="/home/claude/extracted/dash_log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178040" cy="4416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01000" y="1600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5048" y="1618818"/>
            <a:ext cx="3227832" cy="93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red</a:t>
            </a:r>
          </a:p>
          <a:p>
            <a:pPr algn="just">
              <a:lnSpc>
                <a:spcPts val="1450"/>
              </a:lnSpc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Regional (48,28%) y Long Haul (32,76%) concentran más del 80% de la red </a:t>
            </a:r>
            <a:r>
              <a:rPr lang="en-U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concentrando la mayor parte de la actividad operativa.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01000" y="2756219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75621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85048" y="2709593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estratégicas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Nashville, Atlanta y Detroit registran el mayor volumen de actividad, consolidándose como los principales nodos de la red logística.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3838093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383809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85048" y="3816180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entre distancia y tiempo de tránsito permite identificar oportunidades para optimizar las rutas y mejorar la eficiencia operativa.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55864" y="5520587"/>
            <a:ext cx="3611880" cy="1316575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238744" y="55595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38744" y="5267274"/>
            <a:ext cx="32461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0"/>
              </a:lnSpc>
            </a:pP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250"/>
              </a:lnSpc>
            </a:pP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250"/>
              </a:lnSpc>
            </a:pP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250"/>
              </a:lnSpc>
            </a:pP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250"/>
              </a:lnSpc>
            </a:pP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250"/>
              </a:lnSpc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proporciona una visión integral de la red logística, permitiendo identificar los principales nodos de actividad, analizar el comportamiento de las rutas y apoyar decisiones orientadas a optimizar la planificación y el rendimiento operativo.</a:t>
            </a: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DASHBOARDS ·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Business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7232904" cy="4190412"/>
          </a:xfrm>
          <a:prstGeom prst="rect">
            <a:avLst/>
          </a:prstGeom>
          <a:solidFill>
            <a:srgbClr val="FFFFFF"/>
          </a:solidFill>
          <a:ln w="19050">
            <a:solidFill>
              <a:srgbClr val="F3F5F9"/>
            </a:solidFill>
            <a:prstDash val="solid"/>
          </a:ln>
          <a:effectLst>
            <a:outerShdw blurRad="127000" dist="38100" dir="5400000" algn="bl" rotWithShape="0">
              <a:srgbClr val="8A93A3">
                <a:alpha val="35000"/>
              </a:srgbClr>
            </a:outerShdw>
          </a:effectLst>
        </p:spPr>
      </p:sp>
      <p:pic>
        <p:nvPicPr>
          <p:cNvPr id="5" name="Image 0" descr="/home/claude/extracted/dash_bus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39"/>
            <a:ext cx="7178040" cy="44165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001000" y="16002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5048" y="155357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margen operativo del </a:t>
            </a: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59,92 %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refleja una operación rentable y un adecuado equilibrio entre ingresos y costes.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01000" y="25420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85048" y="2487168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0"/>
              </a:lnSpc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se distribuye de forma equilibrada entre </a:t>
            </a:r>
            <a:r>
              <a:rPr lang="es-E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favoreciendo una diversificación del modelo comercial.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348386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85048" y="3536094"/>
            <a:ext cx="3227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450"/>
              </a:lnSpc>
            </a:pP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estratégicos</a:t>
            </a:r>
            <a:endParaRPr lang="en-US" sz="11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ts val="1450"/>
              </a:lnSpc>
            </a:pP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y 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destacan por combinar elevados ingresos y rentabilidad, mientras que 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s-E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posiciona como el cliente con mayor aportación de ingresos.</a:t>
            </a:r>
            <a:endParaRPr lang="en-US" sz="1150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01000" y="5650992"/>
            <a:ext cx="3611880" cy="1115568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5731061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83880" y="5980176"/>
            <a:ext cx="3246120" cy="61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250"/>
              </a:lnSpc>
            </a:pP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proporciona una visión integrada de la rentabilidad, la cartera de clientes y los segmentos de mayor valor, facilitando decisiones orientadas al crecimiento y la optimización del negocio.</a:t>
            </a:r>
            <a:endParaRPr lang="en-US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ANÁLISIS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Rentable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500"/>
              </a:lnSpc>
            </a:pP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confirma una operación financieramente sólida, con elevados ingresos, un margen operativo cercano al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adecuado control de los costes.</a:t>
            </a:r>
            <a:endParaRPr lang="en-US" sz="12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3F5F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mejorable</a:t>
            </a:r>
            <a:endParaRPr lang="en-US" sz="15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500"/>
              </a:lnSpc>
            </a:pP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de la flota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tiempo en ralentí 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puntualidad de las entregas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representan las principales oportunidades para optimizar el rendimiento operativo.</a:t>
            </a:r>
            <a:endParaRPr lang="en-US" sz="12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3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5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82778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500"/>
              </a:lnSpc>
            </a:pP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identificación de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mayor impacto permite priorizar acciones donde generan un mayor valor para el negocio.</a:t>
            </a:r>
            <a:endParaRPr lang="en-US" sz="12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5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0" y="5074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500"/>
              </a:lnSpc>
            </a:pP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ES" sz="12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desarrollado integra la información operativa y comercial en un único entorno de análisis, transformando los datos en información útil para apoyar una toma de decisiones más ágil, objetiva y basada en evidencias.</a:t>
            </a:r>
            <a:endParaRPr lang="en-US" sz="12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3026" y="4942702"/>
            <a:ext cx="5010253" cy="4749937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8928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Diversificar clientes y categorías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37360" y="2088289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s-E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sostenible</a:t>
            </a:r>
          </a:p>
          <a:p>
            <a:pPr>
              <a:lnSpc>
                <a:spcPts val="1600"/>
              </a:lnSpc>
            </a:pPr>
            <a:endParaRPr lang="es-E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600"/>
              </a:lnSpc>
            </a:pPr>
            <a:r>
              <a:rPr lang="es-E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Diversificar clientes y segmentos estratégicos para reducir la concentración de ingresos y aumentar la resiliencia del negocio.</a:t>
            </a:r>
            <a:endParaRPr lang="en-US" sz="14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10789920" cy="0"/>
          </a:xfrm>
          <a:prstGeom prst="line">
            <a:avLst/>
          </a:prstGeom>
          <a:noFill/>
          <a:ln w="12700">
            <a:solidFill>
              <a:srgbClr val="141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37360" y="3310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 focalizado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37360" y="3538559"/>
            <a:ext cx="9601200" cy="847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b="1" dirty="0"/>
              <a:t>Excelencia operativa</a:t>
            </a:r>
          </a:p>
          <a:p>
            <a:endParaRPr lang="es-ES" sz="1400" b="1" dirty="0"/>
          </a:p>
          <a:p>
            <a:r>
              <a:rPr lang="es-ES" sz="1400" dirty="0"/>
              <a:t>Optimizar la planificación del mantenimiento, reducir los tiempos improductivos y mejorar la puntualidad de las operaciones logísticas.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4544568"/>
            <a:ext cx="10789920" cy="0"/>
          </a:xfrm>
          <a:prstGeom prst="line">
            <a:avLst/>
          </a:prstGeom>
          <a:noFill/>
          <a:ln w="12700">
            <a:solidFill>
              <a:srgbClr val="141B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09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37360" y="4727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la formación continua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729122" y="5013545"/>
            <a:ext cx="9601200" cy="901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b="1" dirty="0"/>
              <a:t>Gestión basada en datos</a:t>
            </a:r>
          </a:p>
          <a:p>
            <a:endParaRPr lang="es-ES" sz="1400" b="1" dirty="0"/>
          </a:p>
          <a:p>
            <a:r>
              <a:rPr lang="es-ES" sz="1400" dirty="0"/>
              <a:t>Consolidar el uso del </a:t>
            </a:r>
            <a:r>
              <a:rPr lang="es-ES" sz="1400" dirty="0" err="1"/>
              <a:t>dashboard</a:t>
            </a:r>
            <a:r>
              <a:rPr lang="es-ES" sz="1400" dirty="0"/>
              <a:t> como herramienta de seguimiento para impulsar una toma de decisiones </a:t>
            </a:r>
          </a:p>
          <a:p>
            <a:r>
              <a:rPr lang="es-ES" sz="1400" dirty="0"/>
              <a:t>basada en indicadores y análisis continuo.</a:t>
            </a:r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9813351-85D0-9037-7CAA-32308FDB3F8B}"/>
              </a:ext>
            </a:extLst>
          </p:cNvPr>
          <p:cNvSpPr/>
          <p:nvPr/>
        </p:nvSpPr>
        <p:spPr>
          <a:xfrm>
            <a:off x="838200" y="1005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28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AB5FAEE4-9D7E-E77D-6737-314831C98CF8}"/>
              </a:ext>
            </a:extLst>
          </p:cNvPr>
          <p:cNvSpPr/>
          <p:nvPr/>
        </p:nvSpPr>
        <p:spPr>
          <a:xfrm>
            <a:off x="680448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6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Futuras Líneas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tiempo real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600"/>
              </a:lnSpc>
            </a:pPr>
            <a:r>
              <a:rPr lang="es-E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fuentes de telemetría y sistemas GPS para actualizar el </a:t>
            </a:r>
            <a:r>
              <a:rPr lang="es-ES" sz="14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tiempo real, proporcionando una visión continua del rendimiento operativo.</a:t>
            </a:r>
            <a:endParaRPr lang="en-US" sz="14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3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057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predictivos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600"/>
              </a:lnSpc>
            </a:pPr>
            <a:r>
              <a:rPr lang="es-E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modelos de Machine </a:t>
            </a:r>
            <a:r>
              <a:rPr lang="es-ES" sz="14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es-E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predecir necesidades de mantenimiento, riesgos operativos y posibles incidencias, reforzando la capacidad de anticipación en la toma de decisiones.</a:t>
            </a:r>
            <a:endParaRPr lang="en-US" sz="14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3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05740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66760" y="3239526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1600"/>
              </a:lnSpc>
            </a:pPr>
            <a:r>
              <a:rPr lang="es-E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alertas automáticas ante desviaciones de los </a:t>
            </a:r>
            <a:r>
              <a:rPr lang="es-ES" sz="140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r>
              <a:rPr lang="es-E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críticos para facilitar una respuesta rápida y una gestión proactiva de las operaciones.</a:t>
            </a:r>
            <a:endParaRPr lang="en-US" sz="140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1135</Words>
  <Application>Microsoft Office PowerPoint</Application>
  <PresentationFormat>Panorámica</PresentationFormat>
  <Paragraphs>163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Hector Morales Gonzalez</cp:lastModifiedBy>
  <cp:revision>3</cp:revision>
  <dcterms:created xsi:type="dcterms:W3CDTF">2026-07-21T20:03:11Z</dcterms:created>
  <dcterms:modified xsi:type="dcterms:W3CDTF">2026-07-22T11:16:23Z</dcterms:modified>
</cp:coreProperties>
</file>